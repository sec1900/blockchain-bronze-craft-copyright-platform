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9"/>
  </p:notesMasterIdLst>
  <p:sldIdLst>
    <p:sldId id="280" r:id="rId2"/>
    <p:sldId id="281" r:id="rId3"/>
    <p:sldId id="284" r:id="rId4"/>
    <p:sldId id="298" r:id="rId5"/>
    <p:sldId id="261" r:id="rId6"/>
    <p:sldId id="301" r:id="rId7"/>
    <p:sldId id="283" r:id="rId8"/>
    <p:sldId id="278" r:id="rId9"/>
    <p:sldId id="295" r:id="rId10"/>
    <p:sldId id="294" r:id="rId11"/>
    <p:sldId id="282" r:id="rId12"/>
    <p:sldId id="275" r:id="rId13"/>
    <p:sldId id="293" r:id="rId14"/>
    <p:sldId id="335" r:id="rId15"/>
    <p:sldId id="287" r:id="rId16"/>
    <p:sldId id="334" r:id="rId17"/>
    <p:sldId id="285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9EC9E7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5" autoAdjust="0"/>
    <p:restoredTop sz="96364" autoAdjust="0"/>
  </p:normalViewPr>
  <p:slideViewPr>
    <p:cSldViewPr snapToGrid="0">
      <p:cViewPr varScale="1">
        <p:scale>
          <a:sx n="106" d="100"/>
          <a:sy n="106" d="100"/>
        </p:scale>
        <p:origin x="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2022/11/23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312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92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6289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589DF-9858-42C5-8B2E-539A416D05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387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589DF-9858-42C5-8B2E-539A416D05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281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589DF-9858-42C5-8B2E-539A416D05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1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7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6423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38D33-8C8F-4E14-BE24-35EBEB99B15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77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38D33-8C8F-4E14-BE24-35EBEB99B1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552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38D33-8C8F-4E14-BE24-35EBEB99B1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033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11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0447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67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654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15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8052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520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496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352675" y="1908631"/>
            <a:ext cx="3448050" cy="2162175"/>
          </a:xfrm>
          <a:custGeom>
            <a:avLst/>
            <a:gdLst>
              <a:gd name="connsiteX0" fmla="*/ 0 w 3448050"/>
              <a:gd name="connsiteY0" fmla="*/ 0 h 2162175"/>
              <a:gd name="connsiteX1" fmla="*/ 3448050 w 3448050"/>
              <a:gd name="connsiteY1" fmla="*/ 0 h 2162175"/>
              <a:gd name="connsiteX2" fmla="*/ 3448050 w 3448050"/>
              <a:gd name="connsiteY2" fmla="*/ 2162175 h 2162175"/>
              <a:gd name="connsiteX3" fmla="*/ 0 w 3448050"/>
              <a:gd name="connsiteY3" fmla="*/ 2162175 h 216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8050" h="2162175">
                <a:moveTo>
                  <a:pt x="0" y="0"/>
                </a:moveTo>
                <a:lnTo>
                  <a:pt x="3448050" y="0"/>
                </a:lnTo>
                <a:lnTo>
                  <a:pt x="3448050" y="2162175"/>
                </a:lnTo>
                <a:lnTo>
                  <a:pt x="0" y="2162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6629400" y="3727906"/>
            <a:ext cx="3448050" cy="2162175"/>
          </a:xfrm>
          <a:custGeom>
            <a:avLst/>
            <a:gdLst>
              <a:gd name="connsiteX0" fmla="*/ 0 w 3448050"/>
              <a:gd name="connsiteY0" fmla="*/ 0 h 2162175"/>
              <a:gd name="connsiteX1" fmla="*/ 3448050 w 3448050"/>
              <a:gd name="connsiteY1" fmla="*/ 0 h 2162175"/>
              <a:gd name="connsiteX2" fmla="*/ 3448050 w 3448050"/>
              <a:gd name="connsiteY2" fmla="*/ 2162175 h 2162175"/>
              <a:gd name="connsiteX3" fmla="*/ 0 w 3448050"/>
              <a:gd name="connsiteY3" fmla="*/ 2162175 h 216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8050" h="2162175">
                <a:moveTo>
                  <a:pt x="0" y="0"/>
                </a:moveTo>
                <a:lnTo>
                  <a:pt x="3448050" y="0"/>
                </a:lnTo>
                <a:lnTo>
                  <a:pt x="3448050" y="2162175"/>
                </a:lnTo>
                <a:lnTo>
                  <a:pt x="0" y="2162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36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558861" y="4441228"/>
            <a:ext cx="2854097" cy="1295888"/>
          </a:xfrm>
          <a:custGeom>
            <a:avLst/>
            <a:gdLst>
              <a:gd name="connsiteX0" fmla="*/ 0 w 2854097"/>
              <a:gd name="connsiteY0" fmla="*/ 0 h 1295888"/>
              <a:gd name="connsiteX1" fmla="*/ 2854097 w 2854097"/>
              <a:gd name="connsiteY1" fmla="*/ 0 h 1295888"/>
              <a:gd name="connsiteX2" fmla="*/ 2854097 w 2854097"/>
              <a:gd name="connsiteY2" fmla="*/ 1295888 h 1295888"/>
              <a:gd name="connsiteX3" fmla="*/ 0 w 2854097"/>
              <a:gd name="connsiteY3" fmla="*/ 1295888 h 1295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4097" h="1295888">
                <a:moveTo>
                  <a:pt x="0" y="0"/>
                </a:moveTo>
                <a:lnTo>
                  <a:pt x="2854097" y="0"/>
                </a:lnTo>
                <a:lnTo>
                  <a:pt x="2854097" y="1295888"/>
                </a:lnTo>
                <a:lnTo>
                  <a:pt x="0" y="12958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670218" y="4441228"/>
            <a:ext cx="2854097" cy="1295888"/>
          </a:xfrm>
          <a:custGeom>
            <a:avLst/>
            <a:gdLst>
              <a:gd name="connsiteX0" fmla="*/ 0 w 2854097"/>
              <a:gd name="connsiteY0" fmla="*/ 0 h 1295888"/>
              <a:gd name="connsiteX1" fmla="*/ 2854097 w 2854097"/>
              <a:gd name="connsiteY1" fmla="*/ 0 h 1295888"/>
              <a:gd name="connsiteX2" fmla="*/ 2854097 w 2854097"/>
              <a:gd name="connsiteY2" fmla="*/ 1295888 h 1295888"/>
              <a:gd name="connsiteX3" fmla="*/ 0 w 2854097"/>
              <a:gd name="connsiteY3" fmla="*/ 1295888 h 1295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4097" h="1295888">
                <a:moveTo>
                  <a:pt x="0" y="0"/>
                </a:moveTo>
                <a:lnTo>
                  <a:pt x="2854097" y="0"/>
                </a:lnTo>
                <a:lnTo>
                  <a:pt x="2854097" y="1295888"/>
                </a:lnTo>
                <a:lnTo>
                  <a:pt x="0" y="12958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781575" y="4441228"/>
            <a:ext cx="2854097" cy="1295888"/>
          </a:xfrm>
          <a:custGeom>
            <a:avLst/>
            <a:gdLst>
              <a:gd name="connsiteX0" fmla="*/ 0 w 2854097"/>
              <a:gd name="connsiteY0" fmla="*/ 0 h 1295888"/>
              <a:gd name="connsiteX1" fmla="*/ 2854097 w 2854097"/>
              <a:gd name="connsiteY1" fmla="*/ 0 h 1295888"/>
              <a:gd name="connsiteX2" fmla="*/ 2854097 w 2854097"/>
              <a:gd name="connsiteY2" fmla="*/ 1295888 h 1295888"/>
              <a:gd name="connsiteX3" fmla="*/ 0 w 2854097"/>
              <a:gd name="connsiteY3" fmla="*/ 1295888 h 1295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4097" h="1295888">
                <a:moveTo>
                  <a:pt x="0" y="0"/>
                </a:moveTo>
                <a:lnTo>
                  <a:pt x="2854097" y="0"/>
                </a:lnTo>
                <a:lnTo>
                  <a:pt x="2854097" y="1295888"/>
                </a:lnTo>
                <a:lnTo>
                  <a:pt x="0" y="12958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8325228" y="65454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294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6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Relationship Id="rId9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https://imgconvert.csdnimg.cn/aHR0cDovL2ltZy5ibG9nLmNzZG4ubmV0LzIwMTcwMjE5MDgyOTA5Njg4?x-oss-process=image/format,png" TargetMode="Externa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/>
          <p:cNvSpPr/>
          <p:nvPr/>
        </p:nvSpPr>
        <p:spPr>
          <a:xfrm rot="2700000">
            <a:off x="3652497" y="566169"/>
            <a:ext cx="1068341" cy="1068341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圆角矩形 1"/>
          <p:cNvSpPr/>
          <p:nvPr/>
        </p:nvSpPr>
        <p:spPr>
          <a:xfrm rot="2700000">
            <a:off x="8347309" y="1926870"/>
            <a:ext cx="1068341" cy="1068341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 rot="2700000">
            <a:off x="9906784" y="268239"/>
            <a:ext cx="753462" cy="753462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18084" y="-782264"/>
            <a:ext cx="1494170" cy="1494170"/>
            <a:chOff x="3700441" y="1274408"/>
            <a:chExt cx="1646508" cy="1646508"/>
          </a:xfrm>
        </p:grpSpPr>
        <p:sp>
          <p:nvSpPr>
            <p:cNvPr id="6" name="圆角矩形 5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54646" y="1522906"/>
            <a:ext cx="1494170" cy="1494170"/>
            <a:chOff x="3700441" y="1274408"/>
            <a:chExt cx="1646508" cy="1646508"/>
          </a:xfrm>
        </p:grpSpPr>
        <p:sp>
          <p:nvSpPr>
            <p:cNvPr id="12" name="圆角矩形 11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697594" y="-1481460"/>
            <a:ext cx="2300444" cy="2300444"/>
            <a:chOff x="3700441" y="1274408"/>
            <a:chExt cx="1646508" cy="1646508"/>
          </a:xfrm>
        </p:grpSpPr>
        <p:sp>
          <p:nvSpPr>
            <p:cNvPr id="15" name="圆角矩形 14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23079" y="99012"/>
            <a:ext cx="1770084" cy="1770084"/>
            <a:chOff x="3700441" y="1274408"/>
            <a:chExt cx="1646508" cy="1646508"/>
          </a:xfrm>
        </p:grpSpPr>
        <p:sp>
          <p:nvSpPr>
            <p:cNvPr id="18" name="圆角矩形 17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26" name="圆角矩形 25"/>
          <p:cNvSpPr/>
          <p:nvPr/>
        </p:nvSpPr>
        <p:spPr>
          <a:xfrm rot="2700000">
            <a:off x="6802566" y="1593293"/>
            <a:ext cx="1068341" cy="1068341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 rot="2700000">
            <a:off x="7647191" y="1642586"/>
            <a:ext cx="1149463" cy="114946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859351" y="4852286"/>
            <a:ext cx="2473299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263022" y="5757601"/>
            <a:ext cx="1642912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zh-CN" sz="1400" b="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+mn-lt"/>
              </a:rPr>
              <a:t>2030.10.20</a:t>
            </a:r>
            <a:endParaRPr lang="zh-CN" altLang="en-US" sz="1400" b="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F0A511-1628-5B5B-136F-5E1E8DB54F50}"/>
              </a:ext>
            </a:extLst>
          </p:cNvPr>
          <p:cNvSpPr txBox="1"/>
          <p:nvPr/>
        </p:nvSpPr>
        <p:spPr>
          <a:xfrm>
            <a:off x="2202433" y="4231843"/>
            <a:ext cx="7787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基于区块链的铜工艺品版权管理平台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7379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90928" y="446927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背景分析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35638" y="446927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功能介绍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85097" y="446927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开发技术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2619868" y="2670943"/>
            <a:ext cx="1169488" cy="1169488"/>
            <a:chOff x="3700441" y="1274408"/>
            <a:chExt cx="1646508" cy="1646508"/>
          </a:xfrm>
        </p:grpSpPr>
        <p:sp>
          <p:nvSpPr>
            <p:cNvPr id="27" name="圆角矩形 26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664577" y="2670943"/>
            <a:ext cx="1169488" cy="1169488"/>
            <a:chOff x="3700441" y="1274408"/>
            <a:chExt cx="1646508" cy="1646508"/>
          </a:xfrm>
        </p:grpSpPr>
        <p:sp>
          <p:nvSpPr>
            <p:cNvPr id="30" name="圆角矩形 29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614036" y="2670943"/>
            <a:ext cx="1169488" cy="1169488"/>
            <a:chOff x="3700441" y="1274408"/>
            <a:chExt cx="1646508" cy="1646508"/>
          </a:xfrm>
        </p:grpSpPr>
        <p:sp>
          <p:nvSpPr>
            <p:cNvPr id="33" name="圆角矩形 32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2748026" y="2840188"/>
            <a:ext cx="761747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i="1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01</a:t>
            </a:r>
            <a:endParaRPr lang="zh-CN" altLang="en-US" sz="4800" i="1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811297" y="2824912"/>
            <a:ext cx="761747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i="1" dirty="0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02</a:t>
            </a:r>
            <a:endParaRPr lang="zh-CN" altLang="en-US" sz="4800" i="1" dirty="0"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817906" y="2877149"/>
            <a:ext cx="761747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i="1" dirty="0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03</a:t>
            </a:r>
            <a:endParaRPr lang="zh-CN" altLang="en-US" sz="4800" i="1" dirty="0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60093" y="618634"/>
            <a:ext cx="7671820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zh-CN" altLang="en-US" sz="4400" b="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+mn-lt"/>
              </a:rPr>
              <a:t>目录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4859351" y="1421357"/>
            <a:ext cx="2473299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2CCCA818-37A4-4671-8280-E6EA62E43FC0}"/>
              </a:ext>
            </a:extLst>
          </p:cNvPr>
          <p:cNvSpPr txBox="1"/>
          <p:nvPr/>
        </p:nvSpPr>
        <p:spPr>
          <a:xfrm>
            <a:off x="8427984" y="44597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创新点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39B6367-F7C4-4E7F-A34A-B1E0B1FE73E2}"/>
              </a:ext>
            </a:extLst>
          </p:cNvPr>
          <p:cNvGrpSpPr/>
          <p:nvPr/>
        </p:nvGrpSpPr>
        <p:grpSpPr>
          <a:xfrm>
            <a:off x="8474181" y="2661418"/>
            <a:ext cx="1169488" cy="1169488"/>
            <a:chOff x="3700441" y="1274408"/>
            <a:chExt cx="1646508" cy="1646508"/>
          </a:xfrm>
        </p:grpSpPr>
        <p:sp>
          <p:nvSpPr>
            <p:cNvPr id="47" name="圆角矩形 35">
              <a:extLst>
                <a:ext uri="{FF2B5EF4-FFF2-40B4-BE49-F238E27FC236}">
                  <a16:creationId xmlns:a16="http://schemas.microsoft.com/office/drawing/2014/main" id="{85E24F54-5EE2-41D2-BB2C-54584AA82575}"/>
                </a:ext>
              </a:extLst>
            </p:cNvPr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48" name="圆角矩形 36">
              <a:extLst>
                <a:ext uri="{FF2B5EF4-FFF2-40B4-BE49-F238E27FC236}">
                  <a16:creationId xmlns:a16="http://schemas.microsoft.com/office/drawing/2014/main" id="{F4053351-AB7B-45AF-AB8E-CAE09727D454}"/>
                </a:ext>
              </a:extLst>
            </p:cNvPr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A89052D3-243D-4B1F-AFA0-957DB63062A0}"/>
              </a:ext>
            </a:extLst>
          </p:cNvPr>
          <p:cNvSpPr txBox="1"/>
          <p:nvPr/>
        </p:nvSpPr>
        <p:spPr>
          <a:xfrm>
            <a:off x="8599677" y="2830663"/>
            <a:ext cx="761747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i="1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04</a:t>
            </a:r>
            <a:endParaRPr lang="zh-CN" altLang="en-US" sz="4800" i="1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417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 rot="2700000">
            <a:off x="7068362" y="43330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8" name="圆角矩形 37"/>
          <p:cNvSpPr/>
          <p:nvPr/>
        </p:nvSpPr>
        <p:spPr>
          <a:xfrm rot="2700000">
            <a:off x="10344989" y="4239645"/>
            <a:ext cx="667617" cy="667616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5" name="圆角矩形 34"/>
          <p:cNvSpPr/>
          <p:nvPr/>
        </p:nvSpPr>
        <p:spPr>
          <a:xfrm rot="2700000">
            <a:off x="9154477" y="1512679"/>
            <a:ext cx="668407" cy="668407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6" name="圆角矩形 35"/>
          <p:cNvSpPr/>
          <p:nvPr/>
        </p:nvSpPr>
        <p:spPr>
          <a:xfrm rot="2700000">
            <a:off x="6121262" y="35335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/>
        </p:nvSpPr>
        <p:spPr>
          <a:xfrm rot="2700000">
            <a:off x="6095671" y="4435215"/>
            <a:ext cx="1018499" cy="1018499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658830" y="4575649"/>
            <a:ext cx="1323931" cy="1323933"/>
            <a:chOff x="3700441" y="1274408"/>
            <a:chExt cx="1646508" cy="1646508"/>
          </a:xfrm>
        </p:grpSpPr>
        <p:sp>
          <p:nvSpPr>
            <p:cNvPr id="14" name="圆角矩形 13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2700000">
              <a:off x="3794877" y="1368845"/>
              <a:ext cx="1457637" cy="1457636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993357" y="1982223"/>
            <a:ext cx="1323931" cy="1323933"/>
            <a:chOff x="3700441" y="1274408"/>
            <a:chExt cx="1646508" cy="1646508"/>
          </a:xfrm>
        </p:grpSpPr>
        <p:sp>
          <p:nvSpPr>
            <p:cNvPr id="18" name="圆角矩形 17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6086" y="2762695"/>
            <a:ext cx="1323931" cy="1323933"/>
            <a:chOff x="3700441" y="1274408"/>
            <a:chExt cx="1646508" cy="1646508"/>
          </a:xfrm>
        </p:grpSpPr>
        <p:sp>
          <p:nvSpPr>
            <p:cNvPr id="21" name="圆角矩形 20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0" name="任意多边形 39"/>
          <p:cNvSpPr/>
          <p:nvPr/>
        </p:nvSpPr>
        <p:spPr>
          <a:xfrm rot="2700000">
            <a:off x="10245936" y="3739118"/>
            <a:ext cx="695603" cy="6956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3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6" name="PA_任意多边形 45"/>
          <p:cNvSpPr/>
          <p:nvPr>
            <p:custDataLst>
              <p:tags r:id="rId1"/>
            </p:custDataLst>
          </p:nvPr>
        </p:nvSpPr>
        <p:spPr>
          <a:xfrm rot="2700000">
            <a:off x="9059875" y="971485"/>
            <a:ext cx="725203" cy="7252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86687" y="2357302"/>
            <a:ext cx="2159566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i="1" dirty="0">
                <a:solidFill>
                  <a:schemeClr val="accent5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PART 01</a:t>
            </a:r>
            <a:endParaRPr lang="zh-CN" altLang="en-US" sz="4800" i="1" dirty="0">
              <a:solidFill>
                <a:schemeClr val="accent5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48587" y="3145681"/>
            <a:ext cx="62992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背景分析</a:t>
            </a:r>
          </a:p>
        </p:txBody>
      </p:sp>
    </p:spTree>
    <p:extLst>
      <p:ext uri="{BB962C8B-B14F-4D97-AF65-F5344CB8AC3E}">
        <p14:creationId xmlns:p14="http://schemas.microsoft.com/office/powerpoint/2010/main" val="30728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53427" y="475351"/>
            <a:ext cx="4803063" cy="648618"/>
            <a:chOff x="-352442" y="275263"/>
            <a:chExt cx="4803063" cy="648618"/>
          </a:xfrm>
        </p:grpSpPr>
        <p:sp>
          <p:nvSpPr>
            <p:cNvPr id="16" name="文本框 15"/>
            <p:cNvSpPr txBox="1"/>
            <p:nvPr/>
          </p:nvSpPr>
          <p:spPr>
            <a:xfrm>
              <a:off x="617520" y="275263"/>
              <a:ext cx="38331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背景分析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市场调研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53E8CED-9988-EDE3-8DA4-6D89813157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13" y="2327672"/>
            <a:ext cx="2936875" cy="22026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20D4B8-C7BF-B591-219D-B5CD177BB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25" y="2327671"/>
            <a:ext cx="2936875" cy="220265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37CDC07-341D-B326-4CE4-93DD5FBBA5DB}"/>
              </a:ext>
            </a:extLst>
          </p:cNvPr>
          <p:cNvSpPr txBox="1"/>
          <p:nvPr/>
        </p:nvSpPr>
        <p:spPr>
          <a:xfrm>
            <a:off x="1623389" y="1326380"/>
            <a:ext cx="9187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effectLst/>
                <a:latin typeface="+mn-ea"/>
              </a:rPr>
              <a:t>通过对当地铜工艺商品的调研</a:t>
            </a:r>
            <a:endParaRPr lang="en-US" altLang="zh-CN" sz="2800" dirty="0">
              <a:latin typeface="+mn-ea"/>
            </a:endParaRPr>
          </a:p>
          <a:p>
            <a:pPr algn="ctr"/>
            <a:r>
              <a:rPr lang="zh-CN" altLang="en-US" sz="2800" dirty="0">
                <a:latin typeface="+mn-ea"/>
              </a:rPr>
              <a:t>了解市场行情以及版权保护情况</a:t>
            </a:r>
            <a:r>
              <a:rPr lang="zh-CN" altLang="en-US" sz="2800" dirty="0">
                <a:effectLst/>
                <a:latin typeface="+mn-ea"/>
              </a:rPr>
              <a:t>　　</a:t>
            </a:r>
            <a:endParaRPr lang="zh-CN" altLang="en-US" sz="28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926DC5-92FF-E001-B6F5-23D1831EE4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014" y="2327671"/>
            <a:ext cx="2863850" cy="21478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B6C53B3-5265-E709-E952-CEDB846D91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13" y="4577513"/>
            <a:ext cx="2936875" cy="22026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503765-0E66-A1E3-E41B-ED5F67BF626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26" y="4577513"/>
            <a:ext cx="2936874" cy="22026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5B01B91-2EDF-3A64-E915-A3B02BCADE0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013" y="4577512"/>
            <a:ext cx="2863849" cy="21478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58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53427" y="475351"/>
            <a:ext cx="3001287" cy="648618"/>
            <a:chOff x="-352442" y="275263"/>
            <a:chExt cx="3001287" cy="648618"/>
          </a:xfrm>
        </p:grpSpPr>
        <p:sp>
          <p:nvSpPr>
            <p:cNvPr id="16" name="文本框 15"/>
            <p:cNvSpPr txBox="1"/>
            <p:nvPr/>
          </p:nvSpPr>
          <p:spPr>
            <a:xfrm>
              <a:off x="617520" y="275263"/>
              <a:ext cx="20313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背景分析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08FB2E0-F4E4-6D7F-D28A-341AA6617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66" y="1523396"/>
            <a:ext cx="6075712" cy="21606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23CC559-DFE2-0D6D-80C4-B257542D1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182" y="1821029"/>
            <a:ext cx="6870696" cy="20270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96315F-FEA5-1629-59DD-B99DDF216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03" y="4123013"/>
            <a:ext cx="6341081" cy="20018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3E5DF6-D359-25FF-860F-24DE100BFD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876" y="3194632"/>
            <a:ext cx="7161940" cy="257829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D815D9E-7C21-40AB-81F1-0F889C02144A}"/>
              </a:ext>
            </a:extLst>
          </p:cNvPr>
          <p:cNvSpPr txBox="1"/>
          <p:nvPr/>
        </p:nvSpPr>
        <p:spPr>
          <a:xfrm>
            <a:off x="-70139" y="1736784"/>
            <a:ext cx="11544300" cy="264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ctr">
              <a:lnSpc>
                <a:spcPct val="130000"/>
              </a:lnSpc>
            </a:pPr>
            <a:r>
              <a:rPr lang="zh-CN" altLang="en-US" sz="2800" dirty="0">
                <a:latin typeface="+mn-ea"/>
              </a:rPr>
              <a:t>　</a:t>
            </a:r>
            <a:r>
              <a:rPr lang="zh-CN" alt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国家版权局日前公布</a:t>
            </a:r>
            <a:r>
              <a:rPr lang="en-US" altLang="zh-CN" sz="36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《</a:t>
            </a:r>
            <a:r>
              <a:rPr lang="zh-CN" alt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版权工作“十四五”规划</a:t>
            </a:r>
            <a:r>
              <a:rPr lang="en-US" altLang="zh-CN" sz="36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》</a:t>
            </a:r>
          </a:p>
          <a:p>
            <a:pPr indent="457200" algn="ctr">
              <a:lnSpc>
                <a:spcPct val="130000"/>
              </a:lnSpc>
            </a:pPr>
            <a:endParaRPr lang="en-US" altLang="zh-CN" sz="3600" b="1" dirty="0">
              <a:solidFill>
                <a:srgbClr val="C00000"/>
              </a:solidFill>
              <a:highlight>
                <a:srgbClr val="FFFF00"/>
              </a:highlight>
              <a:latin typeface="+mn-ea"/>
            </a:endParaRPr>
          </a:p>
          <a:p>
            <a:pPr algn="ctr"/>
            <a:r>
              <a:rPr lang="zh-CN" altLang="en-US" sz="36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+mn-ea"/>
              </a:rPr>
              <a:t>加强版权工作规划部署 推进知识产权强国建设</a:t>
            </a:r>
          </a:p>
          <a:p>
            <a:pPr algn="l"/>
            <a:r>
              <a:rPr lang="zh-CN" altLang="en-US" sz="3600" b="1" dirty="0">
                <a:effectLst/>
              </a:rPr>
              <a:t>　　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546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0727" y="462651"/>
            <a:ext cx="4437578" cy="648618"/>
            <a:chOff x="-352442" y="275263"/>
            <a:chExt cx="4437578" cy="648618"/>
          </a:xfrm>
        </p:grpSpPr>
        <p:sp>
          <p:nvSpPr>
            <p:cNvPr id="16" name="文本框 15"/>
            <p:cNvSpPr txBox="1"/>
            <p:nvPr/>
          </p:nvSpPr>
          <p:spPr>
            <a:xfrm>
              <a:off x="617520" y="275263"/>
              <a:ext cx="34676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背景分析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社会背景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CAB65-D7C5-B4B9-66F3-86A1D2EAE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099" y="1093378"/>
            <a:ext cx="5267906" cy="31694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31B3FFF-48F1-044B-05EF-2DF807F59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57" y="1351439"/>
            <a:ext cx="5579093" cy="26059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1CD390-50A7-32C0-A412-4BC0CDD3A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67" y="2914761"/>
            <a:ext cx="5965589" cy="33930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7501E62-7A87-6586-FA47-EFFE84B02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3930" y="3391286"/>
            <a:ext cx="5333356" cy="261066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413B06D-74D7-BC8A-F188-994BA9080F33}"/>
              </a:ext>
            </a:extLst>
          </p:cNvPr>
          <p:cNvSpPr/>
          <p:nvPr/>
        </p:nvSpPr>
        <p:spPr>
          <a:xfrm>
            <a:off x="2830983" y="2028616"/>
            <a:ext cx="582589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知识产权案件日益增多</a:t>
            </a:r>
            <a:endParaRPr lang="en-US" altLang="zh-CN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endParaRPr lang="en-US" altLang="zh-CN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endParaRPr lang="en-US" altLang="zh-CN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zh-CN" alt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版权保护刻不容缓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540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 rot="2700000">
            <a:off x="7068362" y="43330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8" name="圆角矩形 37"/>
          <p:cNvSpPr/>
          <p:nvPr/>
        </p:nvSpPr>
        <p:spPr>
          <a:xfrm rot="2700000">
            <a:off x="10344989" y="4239645"/>
            <a:ext cx="667617" cy="667616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5" name="圆角矩形 34"/>
          <p:cNvSpPr/>
          <p:nvPr/>
        </p:nvSpPr>
        <p:spPr>
          <a:xfrm rot="2700000">
            <a:off x="9154477" y="1512679"/>
            <a:ext cx="668407" cy="668407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6" name="圆角矩形 35"/>
          <p:cNvSpPr/>
          <p:nvPr/>
        </p:nvSpPr>
        <p:spPr>
          <a:xfrm rot="2700000">
            <a:off x="6121262" y="35335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/>
        </p:nvSpPr>
        <p:spPr>
          <a:xfrm rot="2700000">
            <a:off x="6095671" y="4435215"/>
            <a:ext cx="1018499" cy="1018499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658830" y="4575649"/>
            <a:ext cx="1323931" cy="1323933"/>
            <a:chOff x="3700441" y="1274408"/>
            <a:chExt cx="1646508" cy="1646508"/>
          </a:xfrm>
        </p:grpSpPr>
        <p:sp>
          <p:nvSpPr>
            <p:cNvPr id="14" name="圆角矩形 13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2700000">
              <a:off x="3794877" y="1368845"/>
              <a:ext cx="1457637" cy="1457636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993357" y="1982223"/>
            <a:ext cx="1323931" cy="1323933"/>
            <a:chOff x="3700441" y="1274408"/>
            <a:chExt cx="1646508" cy="1646508"/>
          </a:xfrm>
        </p:grpSpPr>
        <p:sp>
          <p:nvSpPr>
            <p:cNvPr id="18" name="圆角矩形 17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6086" y="2762695"/>
            <a:ext cx="1323931" cy="1323933"/>
            <a:chOff x="3700441" y="1274408"/>
            <a:chExt cx="1646508" cy="1646508"/>
          </a:xfrm>
        </p:grpSpPr>
        <p:sp>
          <p:nvSpPr>
            <p:cNvPr id="21" name="圆角矩形 20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0" name="任意多边形 39"/>
          <p:cNvSpPr/>
          <p:nvPr/>
        </p:nvSpPr>
        <p:spPr>
          <a:xfrm rot="2700000">
            <a:off x="10245936" y="3739118"/>
            <a:ext cx="695603" cy="6956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3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6" name="PA_任意多边形 45"/>
          <p:cNvSpPr/>
          <p:nvPr>
            <p:custDataLst>
              <p:tags r:id="rId1"/>
            </p:custDataLst>
          </p:nvPr>
        </p:nvSpPr>
        <p:spPr>
          <a:xfrm rot="2700000">
            <a:off x="9059875" y="971485"/>
            <a:ext cx="725203" cy="7252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86687" y="2357302"/>
            <a:ext cx="2159566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i="1" dirty="0">
                <a:solidFill>
                  <a:schemeClr val="accent4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PART 02</a:t>
            </a:r>
            <a:endParaRPr lang="zh-CN" altLang="en-US" sz="4800" i="1" dirty="0">
              <a:solidFill>
                <a:schemeClr val="accent4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48587" y="3145681"/>
            <a:ext cx="62992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功能介绍</a:t>
            </a:r>
          </a:p>
        </p:txBody>
      </p:sp>
    </p:spTree>
    <p:extLst>
      <p:ext uri="{BB962C8B-B14F-4D97-AF65-F5344CB8AC3E}">
        <p14:creationId xmlns:p14="http://schemas.microsoft.com/office/powerpoint/2010/main" val="388840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C1727-27D3-F4C7-3CAF-A124E5AC0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76" y="1557700"/>
            <a:ext cx="10662198" cy="5296172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631996" y="475351"/>
            <a:ext cx="2949991" cy="648618"/>
            <a:chOff x="-352442" y="275263"/>
            <a:chExt cx="2949991" cy="648618"/>
          </a:xfrm>
        </p:grpSpPr>
        <p:sp>
          <p:nvSpPr>
            <p:cNvPr id="45" name="文本框 44"/>
            <p:cNvSpPr txBox="1"/>
            <p:nvPr/>
          </p:nvSpPr>
          <p:spPr>
            <a:xfrm>
              <a:off x="617520" y="275263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系统层次图</a:t>
              </a:r>
            </a:p>
          </p:txBody>
        </p:sp>
        <p:sp>
          <p:nvSpPr>
            <p:cNvPr id="31" name="圆角矩形 30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DDDCB19-F07D-46B7-8872-7639B739F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75" y="2251699"/>
            <a:ext cx="845893" cy="259102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7D8943D-AC85-45C6-880D-DA931E2D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A493F2-9D17-417B-B686-82CC4888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476" y="998571"/>
            <a:ext cx="20857865" cy="4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88E34A1-1EB6-E6D2-51E2-130F17E19C1D}"/>
              </a:ext>
            </a:extLst>
          </p:cNvPr>
          <p:cNvGrpSpPr/>
          <p:nvPr/>
        </p:nvGrpSpPr>
        <p:grpSpPr>
          <a:xfrm>
            <a:off x="1913521" y="1522833"/>
            <a:ext cx="1668466" cy="5170067"/>
            <a:chOff x="1960216" y="1522833"/>
            <a:chExt cx="1668466" cy="5170067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C06EDF5-1123-D088-3CD1-951C247BBE16}"/>
                </a:ext>
              </a:extLst>
            </p:cNvPr>
            <p:cNvSpPr/>
            <p:nvPr/>
          </p:nvSpPr>
          <p:spPr>
            <a:xfrm>
              <a:off x="2076453" y="3352799"/>
              <a:ext cx="927097" cy="334010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A336880-8901-7501-A7C5-231D356ABA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51" y="2194422"/>
              <a:ext cx="0" cy="1158377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6E007FE-7A21-BAB5-7D2C-1A018A2EE5BB}"/>
                </a:ext>
              </a:extLst>
            </p:cNvPr>
            <p:cNvSpPr txBox="1"/>
            <p:nvPr/>
          </p:nvSpPr>
          <p:spPr>
            <a:xfrm>
              <a:off x="1960216" y="1522833"/>
              <a:ext cx="1668466" cy="6463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密码和验证码双因子认证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6B19490-9AA2-4179-1B4D-C7910D24D3C8}"/>
              </a:ext>
            </a:extLst>
          </p:cNvPr>
          <p:cNvGrpSpPr/>
          <p:nvPr/>
        </p:nvGrpSpPr>
        <p:grpSpPr>
          <a:xfrm>
            <a:off x="3051185" y="2109162"/>
            <a:ext cx="3333738" cy="4657533"/>
            <a:chOff x="3111506" y="2044842"/>
            <a:chExt cx="3333738" cy="465753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3E7D52F-E648-634E-FEB5-A1031AF2FF57}"/>
                </a:ext>
              </a:extLst>
            </p:cNvPr>
            <p:cNvSpPr txBox="1"/>
            <p:nvPr/>
          </p:nvSpPr>
          <p:spPr>
            <a:xfrm>
              <a:off x="4609411" y="2044842"/>
              <a:ext cx="1362718" cy="5232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C00000"/>
                  </a:solidFill>
                </a:rPr>
                <a:t>区块链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6F95501-781B-D1E2-9D0E-8766FDCE1AC4}"/>
                </a:ext>
              </a:extLst>
            </p:cNvPr>
            <p:cNvSpPr/>
            <p:nvPr/>
          </p:nvSpPr>
          <p:spPr>
            <a:xfrm>
              <a:off x="3111506" y="3349137"/>
              <a:ext cx="3333738" cy="335323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0706E8F-4053-2DE0-8526-C18DBE8D189B}"/>
                </a:ext>
              </a:extLst>
            </p:cNvPr>
            <p:cNvCxnSpPr>
              <a:cxnSpLocks/>
              <a:stCxn id="13" idx="0"/>
              <a:endCxn id="12" idx="2"/>
            </p:cNvCxnSpPr>
            <p:nvPr/>
          </p:nvCxnSpPr>
          <p:spPr>
            <a:xfrm flipV="1">
              <a:off x="4778375" y="2568062"/>
              <a:ext cx="512395" cy="78107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216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631996" y="475351"/>
            <a:ext cx="2949991" cy="648618"/>
            <a:chOff x="-352442" y="275263"/>
            <a:chExt cx="2949991" cy="648618"/>
          </a:xfrm>
        </p:grpSpPr>
        <p:sp>
          <p:nvSpPr>
            <p:cNvPr id="45" name="文本框 44"/>
            <p:cNvSpPr txBox="1"/>
            <p:nvPr/>
          </p:nvSpPr>
          <p:spPr>
            <a:xfrm>
              <a:off x="617520" y="275263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系统</a:t>
              </a:r>
              <a:r>
                <a:rPr lang="zh-CN" altLang="en-US" sz="28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流程图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DDDCB19-F07D-46B7-8872-7639B739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2251699"/>
            <a:ext cx="845893" cy="259102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7D8943D-AC85-45C6-880D-DA931E2D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A493F2-9D17-417B-B686-82CC4888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385" y="998570"/>
            <a:ext cx="20857865" cy="4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E0600B-EC12-5DCE-681E-802ADC6C2192}"/>
              </a:ext>
            </a:extLst>
          </p:cNvPr>
          <p:cNvSpPr txBox="1"/>
          <p:nvPr/>
        </p:nvSpPr>
        <p:spPr>
          <a:xfrm>
            <a:off x="1473892" y="1997140"/>
            <a:ext cx="615553" cy="35464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/>
              <a:t>版权信息录入及上链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3A6BE2-BA0E-5BA6-0C56-71CA23B0E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85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5F6CF30-1ACC-B401-E6DC-3347C8215ED9}"/>
              </a:ext>
            </a:extLst>
          </p:cNvPr>
          <p:cNvGrpSpPr/>
          <p:nvPr/>
        </p:nvGrpSpPr>
        <p:grpSpPr>
          <a:xfrm>
            <a:off x="8058150" y="1116078"/>
            <a:ext cx="2952750" cy="5292104"/>
            <a:chOff x="8058150" y="1116078"/>
            <a:chExt cx="2952750" cy="5292104"/>
          </a:xfrm>
        </p:grpSpPr>
        <p:pic>
          <p:nvPicPr>
            <p:cNvPr id="1026" name="图片 156">
              <a:extLst>
                <a:ext uri="{FF2B5EF4-FFF2-40B4-BE49-F238E27FC236}">
                  <a16:creationId xmlns:a16="http://schemas.microsoft.com/office/drawing/2014/main" id="{EE1FB393-1FA0-D253-9666-8C36B26587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8150" y="1116078"/>
              <a:ext cx="2659958" cy="4863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4AF0DC3-59C9-CFA9-47A1-51A69F2D632C}"/>
                </a:ext>
              </a:extLst>
            </p:cNvPr>
            <p:cNvSpPr txBox="1"/>
            <p:nvPr/>
          </p:nvSpPr>
          <p:spPr>
            <a:xfrm>
              <a:off x="8299450" y="6038850"/>
              <a:ext cx="2711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图</a:t>
              </a:r>
              <a:r>
                <a:rPr lang="en-US" altLang="zh-CN" dirty="0"/>
                <a:t>2</a:t>
              </a:r>
              <a:r>
                <a:rPr lang="zh-CN" altLang="en-US" dirty="0"/>
                <a:t>管理员审核</a:t>
              </a:r>
              <a:endParaRPr lang="en-US" altLang="zh-CN" dirty="0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FA3AE9C-10EC-6C4C-330B-2F27F2BA1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971" y="1046271"/>
            <a:ext cx="3267989" cy="472860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1233131-16AE-57E7-9047-A28CE3EA7CC9}"/>
              </a:ext>
            </a:extLst>
          </p:cNvPr>
          <p:cNvSpPr txBox="1"/>
          <p:nvPr/>
        </p:nvSpPr>
        <p:spPr>
          <a:xfrm>
            <a:off x="3825529" y="6038850"/>
            <a:ext cx="271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/>
              <a:t>用户上传信息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962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631996" y="475351"/>
            <a:ext cx="2949991" cy="648618"/>
            <a:chOff x="-352442" y="275263"/>
            <a:chExt cx="2949991" cy="648618"/>
          </a:xfrm>
        </p:grpSpPr>
        <p:sp>
          <p:nvSpPr>
            <p:cNvPr id="45" name="文本框 44"/>
            <p:cNvSpPr txBox="1"/>
            <p:nvPr/>
          </p:nvSpPr>
          <p:spPr>
            <a:xfrm>
              <a:off x="617520" y="275263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系统</a:t>
              </a:r>
              <a:r>
                <a:rPr lang="zh-CN" altLang="en-US" sz="28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流程图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DDDCB19-F07D-46B7-8872-7639B739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2251699"/>
            <a:ext cx="845893" cy="259102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7D8943D-AC85-45C6-880D-DA931E2D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A493F2-9D17-417B-B686-82CC4888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476" y="998571"/>
            <a:ext cx="20857865" cy="4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6D45D2-FACE-44E4-D495-4BBC1132B607}"/>
              </a:ext>
            </a:extLst>
          </p:cNvPr>
          <p:cNvGrpSpPr/>
          <p:nvPr/>
        </p:nvGrpSpPr>
        <p:grpSpPr>
          <a:xfrm>
            <a:off x="8091202" y="1160862"/>
            <a:ext cx="3783298" cy="5067899"/>
            <a:chOff x="8091202" y="1160862"/>
            <a:chExt cx="3783298" cy="506789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45AC155-2349-A76B-6A29-2F71549B4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1202" y="1160862"/>
              <a:ext cx="2403944" cy="4388851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D12F5CE-6964-8EB7-D4A5-294C235084C7}"/>
                </a:ext>
              </a:extLst>
            </p:cNvPr>
            <p:cNvSpPr txBox="1"/>
            <p:nvPr/>
          </p:nvSpPr>
          <p:spPr>
            <a:xfrm>
              <a:off x="8509000" y="5859429"/>
              <a:ext cx="336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图</a:t>
              </a:r>
              <a:r>
                <a:rPr lang="en-US" altLang="zh-CN" dirty="0"/>
                <a:t>2-</a:t>
              </a:r>
              <a:r>
                <a:rPr lang="zh-CN" altLang="en-US" dirty="0"/>
                <a:t>申诉处理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1C2FA97-B038-5149-F89E-814BD00C8F1E}"/>
              </a:ext>
            </a:extLst>
          </p:cNvPr>
          <p:cNvGrpSpPr/>
          <p:nvPr/>
        </p:nvGrpSpPr>
        <p:grpSpPr>
          <a:xfrm>
            <a:off x="1601958" y="1160862"/>
            <a:ext cx="4320611" cy="5067899"/>
            <a:chOff x="1775389" y="1160862"/>
            <a:chExt cx="4320611" cy="506789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E369EFA-1C1C-424A-95AD-FE8AFABEEDC8}"/>
                </a:ext>
              </a:extLst>
            </p:cNvPr>
            <p:cNvGrpSpPr/>
            <p:nvPr/>
          </p:nvGrpSpPr>
          <p:grpSpPr>
            <a:xfrm>
              <a:off x="1775389" y="1160862"/>
              <a:ext cx="4320611" cy="5067899"/>
              <a:chOff x="1775389" y="1160862"/>
              <a:chExt cx="4320611" cy="5067899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D178D056-EB07-8B1B-6784-4DF72F367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75389" y="1160862"/>
                <a:ext cx="3613196" cy="4536275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0CCB508-F898-AB62-68DA-8326570F7504}"/>
                  </a:ext>
                </a:extLst>
              </p:cNvPr>
              <p:cNvSpPr txBox="1"/>
              <p:nvPr/>
            </p:nvSpPr>
            <p:spPr>
              <a:xfrm>
                <a:off x="2730500" y="5859429"/>
                <a:ext cx="33655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图</a:t>
                </a:r>
                <a:r>
                  <a:rPr lang="en-US" altLang="zh-CN" dirty="0"/>
                  <a:t>1-</a:t>
                </a:r>
                <a:r>
                  <a:rPr lang="zh-CN" altLang="en-US" dirty="0"/>
                  <a:t>完整性检验</a:t>
                </a: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B16FEBF-56D9-2C12-7C8A-F1A85987935B}"/>
                </a:ext>
              </a:extLst>
            </p:cNvPr>
            <p:cNvSpPr txBox="1"/>
            <p:nvPr/>
          </p:nvSpPr>
          <p:spPr>
            <a:xfrm>
              <a:off x="3810000" y="3124200"/>
              <a:ext cx="6667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黑体" panose="02010609060101010101" pitchFamily="49" charset="-122"/>
                  <a:ea typeface="黑体" panose="02010609060101010101" pitchFamily="49" charset="-122"/>
                </a:rPr>
                <a:t>M2</a:t>
              </a:r>
              <a:endPara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232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 rot="2700000">
            <a:off x="7068362" y="43330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8" name="圆角矩形 37"/>
          <p:cNvSpPr/>
          <p:nvPr/>
        </p:nvSpPr>
        <p:spPr>
          <a:xfrm rot="2700000">
            <a:off x="10344989" y="4239645"/>
            <a:ext cx="667617" cy="667616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5" name="圆角矩形 34"/>
          <p:cNvSpPr/>
          <p:nvPr/>
        </p:nvSpPr>
        <p:spPr>
          <a:xfrm rot="2700000">
            <a:off x="9154477" y="1512679"/>
            <a:ext cx="668407" cy="668407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6" name="圆角矩形 35"/>
          <p:cNvSpPr/>
          <p:nvPr/>
        </p:nvSpPr>
        <p:spPr>
          <a:xfrm rot="2700000">
            <a:off x="6121262" y="35335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/>
        </p:nvSpPr>
        <p:spPr>
          <a:xfrm rot="2700000">
            <a:off x="6095671" y="4435215"/>
            <a:ext cx="1018499" cy="1018499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658830" y="4575649"/>
            <a:ext cx="1323931" cy="1323933"/>
            <a:chOff x="3700441" y="1274408"/>
            <a:chExt cx="1646508" cy="1646508"/>
          </a:xfrm>
        </p:grpSpPr>
        <p:sp>
          <p:nvSpPr>
            <p:cNvPr id="14" name="圆角矩形 13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2700000">
              <a:off x="3794877" y="1368845"/>
              <a:ext cx="1457637" cy="1457636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993357" y="1982223"/>
            <a:ext cx="1323931" cy="1323933"/>
            <a:chOff x="3700441" y="1274408"/>
            <a:chExt cx="1646508" cy="1646508"/>
          </a:xfrm>
        </p:grpSpPr>
        <p:sp>
          <p:nvSpPr>
            <p:cNvPr id="18" name="圆角矩形 17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6086" y="2762695"/>
            <a:ext cx="1323931" cy="1323933"/>
            <a:chOff x="3700441" y="1274408"/>
            <a:chExt cx="1646508" cy="1646508"/>
          </a:xfrm>
        </p:grpSpPr>
        <p:sp>
          <p:nvSpPr>
            <p:cNvPr id="21" name="圆角矩形 20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0" name="任意多边形 39"/>
          <p:cNvSpPr/>
          <p:nvPr/>
        </p:nvSpPr>
        <p:spPr>
          <a:xfrm rot="2700000">
            <a:off x="10245936" y="3739118"/>
            <a:ext cx="695603" cy="6956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3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6" name="PA_任意多边形 45"/>
          <p:cNvSpPr/>
          <p:nvPr>
            <p:custDataLst>
              <p:tags r:id="rId1"/>
            </p:custDataLst>
          </p:nvPr>
        </p:nvSpPr>
        <p:spPr>
          <a:xfrm rot="2700000">
            <a:off x="9059875" y="971485"/>
            <a:ext cx="725203" cy="7252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86687" y="2357302"/>
            <a:ext cx="2159566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i="1" dirty="0">
                <a:solidFill>
                  <a:schemeClr val="accent2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PART 03</a:t>
            </a:r>
            <a:endParaRPr lang="zh-CN" altLang="en-US" sz="4800" i="1" dirty="0">
              <a:solidFill>
                <a:schemeClr val="accent2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48587" y="3145681"/>
            <a:ext cx="62992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开发技术</a:t>
            </a:r>
          </a:p>
        </p:txBody>
      </p:sp>
    </p:spTree>
    <p:extLst>
      <p:ext uri="{BB962C8B-B14F-4D97-AF65-F5344CB8AC3E}">
        <p14:creationId xmlns:p14="http://schemas.microsoft.com/office/powerpoint/2010/main" val="352308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组合 116"/>
          <p:cNvGrpSpPr/>
          <p:nvPr/>
        </p:nvGrpSpPr>
        <p:grpSpPr>
          <a:xfrm>
            <a:off x="631996" y="475351"/>
            <a:ext cx="2590919" cy="648618"/>
            <a:chOff x="-352442" y="275263"/>
            <a:chExt cx="2590919" cy="648618"/>
          </a:xfrm>
        </p:grpSpPr>
        <p:sp>
          <p:nvSpPr>
            <p:cNvPr id="121" name="文本框 120"/>
            <p:cNvSpPr txBox="1"/>
            <p:nvPr/>
          </p:nvSpPr>
          <p:spPr>
            <a:xfrm>
              <a:off x="617520" y="275263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开发技术</a:t>
              </a:r>
            </a:p>
          </p:txBody>
        </p:sp>
        <p:sp>
          <p:nvSpPr>
            <p:cNvPr id="119" name="圆角矩形 118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0" name="圆角矩形 119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802B126-FE47-021F-1655-3124F6626A8C}"/>
              </a:ext>
            </a:extLst>
          </p:cNvPr>
          <p:cNvGrpSpPr/>
          <p:nvPr/>
        </p:nvGrpSpPr>
        <p:grpSpPr>
          <a:xfrm>
            <a:off x="901794" y="1228738"/>
            <a:ext cx="10801350" cy="5427129"/>
            <a:chOff x="901794" y="1228738"/>
            <a:chExt cx="10801350" cy="542712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7954312-E060-4E3A-55AA-CE91B6DA2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794" y="1751958"/>
              <a:ext cx="10801350" cy="4903909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4C903FD-3520-EE79-C91F-3E466FE47042}"/>
                </a:ext>
              </a:extLst>
            </p:cNvPr>
            <p:cNvSpPr txBox="1"/>
            <p:nvPr/>
          </p:nvSpPr>
          <p:spPr>
            <a:xfrm>
              <a:off x="3651438" y="1228738"/>
              <a:ext cx="5302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+mn-ea"/>
                </a:rPr>
                <a:t>利用区块链技术保存版权信息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21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3">
            <a:extLst>
              <a:ext uri="{FF2B5EF4-FFF2-40B4-BE49-F238E27FC236}">
                <a16:creationId xmlns:a16="http://schemas.microsoft.com/office/drawing/2014/main" id="{42185FB2-4B0E-8400-E942-E4F9B0FB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617" y="998571"/>
            <a:ext cx="3554412" cy="589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7" name="组合 116"/>
          <p:cNvGrpSpPr/>
          <p:nvPr/>
        </p:nvGrpSpPr>
        <p:grpSpPr>
          <a:xfrm>
            <a:off x="631996" y="475351"/>
            <a:ext cx="2590919" cy="648618"/>
            <a:chOff x="-352442" y="275263"/>
            <a:chExt cx="2590919" cy="648618"/>
          </a:xfrm>
        </p:grpSpPr>
        <p:sp>
          <p:nvSpPr>
            <p:cNvPr id="121" name="文本框 120"/>
            <p:cNvSpPr txBox="1"/>
            <p:nvPr/>
          </p:nvSpPr>
          <p:spPr>
            <a:xfrm>
              <a:off x="617520" y="275263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开发技术</a:t>
              </a:r>
            </a:p>
          </p:txBody>
        </p:sp>
        <p:sp>
          <p:nvSpPr>
            <p:cNvPr id="119" name="圆角矩形 118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0" name="圆角矩形 119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85AAC15-2B3D-3075-6B2B-6A9FB163BCEE}"/>
              </a:ext>
            </a:extLst>
          </p:cNvPr>
          <p:cNvGrpSpPr/>
          <p:nvPr/>
        </p:nvGrpSpPr>
        <p:grpSpPr>
          <a:xfrm>
            <a:off x="319182" y="1148272"/>
            <a:ext cx="8427849" cy="4038236"/>
            <a:chOff x="319182" y="1148272"/>
            <a:chExt cx="8427849" cy="403823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8A6DB31-0E47-0659-5DD1-40DB74B7D27F}"/>
                </a:ext>
              </a:extLst>
            </p:cNvPr>
            <p:cNvSpPr txBox="1"/>
            <p:nvPr/>
          </p:nvSpPr>
          <p:spPr>
            <a:xfrm>
              <a:off x="3444969" y="1148272"/>
              <a:ext cx="5302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latin typeface="+mn-ea"/>
                </a:rPr>
                <a:t>AES</a:t>
              </a:r>
              <a:r>
                <a:rPr lang="zh-CN" altLang="en-US" sz="2800" b="1" dirty="0">
                  <a:latin typeface="+mn-ea"/>
                </a:rPr>
                <a:t>密码技术加密版权信息</a:t>
              </a:r>
            </a:p>
          </p:txBody>
        </p:sp>
        <p:pic>
          <p:nvPicPr>
            <p:cNvPr id="2050" name="Picture 2" descr="加密流程图">
              <a:extLst>
                <a:ext uri="{FF2B5EF4-FFF2-40B4-BE49-F238E27FC236}">
                  <a16:creationId xmlns:a16="http://schemas.microsoft.com/office/drawing/2014/main" id="{D968D0E3-013E-708D-AE7F-A212CA6408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182" y="2231654"/>
              <a:ext cx="7288369" cy="2954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6032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9F18BBB-A22D-02EB-CB32-54723E48CAF4}"/>
              </a:ext>
            </a:extLst>
          </p:cNvPr>
          <p:cNvGrpSpPr/>
          <p:nvPr/>
        </p:nvGrpSpPr>
        <p:grpSpPr>
          <a:xfrm>
            <a:off x="631996" y="475351"/>
            <a:ext cx="2590919" cy="648618"/>
            <a:chOff x="-352442" y="275263"/>
            <a:chExt cx="2590919" cy="64861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D107AD6-CDDE-4544-EA48-9373D285D82A}"/>
                </a:ext>
              </a:extLst>
            </p:cNvPr>
            <p:cNvSpPr txBox="1"/>
            <p:nvPr/>
          </p:nvSpPr>
          <p:spPr>
            <a:xfrm>
              <a:off x="617520" y="275263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开发技术</a:t>
              </a:r>
            </a:p>
          </p:txBody>
        </p:sp>
        <p:sp>
          <p:nvSpPr>
            <p:cNvPr id="4" name="圆角矩形 118">
              <a:extLst>
                <a:ext uri="{FF2B5EF4-FFF2-40B4-BE49-F238E27FC236}">
                  <a16:creationId xmlns:a16="http://schemas.microsoft.com/office/drawing/2014/main" id="{ED74267D-3BB2-630D-AE6B-47158EBB0677}"/>
                </a:ext>
              </a:extLst>
            </p:cNvPr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圆角矩形 119">
              <a:extLst>
                <a:ext uri="{FF2B5EF4-FFF2-40B4-BE49-F238E27FC236}">
                  <a16:creationId xmlns:a16="http://schemas.microsoft.com/office/drawing/2014/main" id="{B4F26E8E-A899-C396-9BEE-B87BF0862BA8}"/>
                </a:ext>
              </a:extLst>
            </p:cNvPr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B0FC597-1013-FD5B-EEEF-BE9EF376FCB5}"/>
              </a:ext>
            </a:extLst>
          </p:cNvPr>
          <p:cNvSpPr txBox="1"/>
          <p:nvPr/>
        </p:nvSpPr>
        <p:spPr>
          <a:xfrm>
            <a:off x="2897234" y="1081121"/>
            <a:ext cx="6257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基于感知哈希算法的相似度比较设计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5542A4E-B412-9951-B427-E0435A3D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914" y="1517376"/>
            <a:ext cx="4311872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1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 rot="2700000">
            <a:off x="7068362" y="43330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8" name="圆角矩形 37"/>
          <p:cNvSpPr/>
          <p:nvPr/>
        </p:nvSpPr>
        <p:spPr>
          <a:xfrm rot="2700000">
            <a:off x="10344989" y="4239645"/>
            <a:ext cx="667617" cy="667616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5" name="圆角矩形 34"/>
          <p:cNvSpPr/>
          <p:nvPr/>
        </p:nvSpPr>
        <p:spPr>
          <a:xfrm rot="2700000">
            <a:off x="9154477" y="1512679"/>
            <a:ext cx="668407" cy="668407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6" name="圆角矩形 35"/>
          <p:cNvSpPr/>
          <p:nvPr/>
        </p:nvSpPr>
        <p:spPr>
          <a:xfrm rot="2700000">
            <a:off x="6121262" y="3533543"/>
            <a:ext cx="946620" cy="946620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/>
        </p:nvSpPr>
        <p:spPr>
          <a:xfrm rot="2700000">
            <a:off x="6095671" y="4435215"/>
            <a:ext cx="1018499" cy="1018499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658830" y="4575649"/>
            <a:ext cx="1323931" cy="1323933"/>
            <a:chOff x="3700441" y="1274408"/>
            <a:chExt cx="1646508" cy="1646508"/>
          </a:xfrm>
        </p:grpSpPr>
        <p:sp>
          <p:nvSpPr>
            <p:cNvPr id="14" name="圆角矩形 13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2700000">
              <a:off x="3794877" y="1368845"/>
              <a:ext cx="1457637" cy="1457636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993357" y="1982223"/>
            <a:ext cx="1323931" cy="1323933"/>
            <a:chOff x="3700441" y="1274408"/>
            <a:chExt cx="1646508" cy="1646508"/>
          </a:xfrm>
        </p:grpSpPr>
        <p:sp>
          <p:nvSpPr>
            <p:cNvPr id="18" name="圆角矩形 17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6086" y="2762695"/>
            <a:ext cx="1323931" cy="1323933"/>
            <a:chOff x="3700441" y="1274408"/>
            <a:chExt cx="1646508" cy="1646508"/>
          </a:xfrm>
        </p:grpSpPr>
        <p:sp>
          <p:nvSpPr>
            <p:cNvPr id="21" name="圆角矩形 20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400"/>
              <a:endParaRPr lang="zh-CN" altLang="en-US" sz="2000">
                <a:solidFill>
                  <a:prstClr val="white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0" name="任意多边形 39"/>
          <p:cNvSpPr/>
          <p:nvPr/>
        </p:nvSpPr>
        <p:spPr>
          <a:xfrm rot="2700000">
            <a:off x="10245936" y="3739118"/>
            <a:ext cx="695603" cy="6956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3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6" name="PA_任意多边形 45"/>
          <p:cNvSpPr/>
          <p:nvPr>
            <p:custDataLst>
              <p:tags r:id="rId1"/>
            </p:custDataLst>
          </p:nvPr>
        </p:nvSpPr>
        <p:spPr>
          <a:xfrm rot="2700000">
            <a:off x="9059875" y="971485"/>
            <a:ext cx="725203" cy="72520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86687" y="2357302"/>
            <a:ext cx="2584747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i="1" dirty="0">
                <a:solidFill>
                  <a:schemeClr val="accent2">
                    <a:lumMod val="50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PART 04</a:t>
            </a:r>
            <a:endParaRPr lang="zh-CN" altLang="en-US" sz="4800" i="1" dirty="0">
              <a:solidFill>
                <a:schemeClr val="accent2">
                  <a:lumMod val="50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48587" y="3145681"/>
            <a:ext cx="62992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创新点</a:t>
            </a:r>
          </a:p>
        </p:txBody>
      </p:sp>
    </p:spTree>
    <p:extLst>
      <p:ext uri="{BB962C8B-B14F-4D97-AF65-F5344CB8AC3E}">
        <p14:creationId xmlns:p14="http://schemas.microsoft.com/office/powerpoint/2010/main" val="198888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9748133" y="4631964"/>
            <a:ext cx="121219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rPr>
              <a:t>发 展</a:t>
            </a:r>
            <a:endParaRPr lang="en-US" altLang="zh-CN" sz="240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rPr>
              <a:t>Development</a:t>
            </a:r>
            <a:endParaRPr lang="zh-CN" altLang="en-US" sz="160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27994" y="472986"/>
            <a:ext cx="2231846" cy="648618"/>
            <a:chOff x="-352442" y="275263"/>
            <a:chExt cx="2231846" cy="648618"/>
          </a:xfrm>
        </p:grpSpPr>
        <p:sp>
          <p:nvSpPr>
            <p:cNvPr id="31" name="文本框 30"/>
            <p:cNvSpPr txBox="1"/>
            <p:nvPr/>
          </p:nvSpPr>
          <p:spPr>
            <a:xfrm>
              <a:off x="617520" y="275263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</a:t>
              </a:r>
            </a:p>
          </p:txBody>
        </p:sp>
        <p:sp>
          <p:nvSpPr>
            <p:cNvPr id="29" name="圆角矩形 28"/>
            <p:cNvSpPr/>
            <p:nvPr/>
          </p:nvSpPr>
          <p:spPr>
            <a:xfrm rot="2700000">
              <a:off x="-223444" y="333297"/>
              <a:ext cx="590584" cy="590584"/>
            </a:xfrm>
            <a:prstGeom prst="roundRect">
              <a:avLst/>
            </a:prstGeom>
            <a:solidFill>
              <a:srgbClr val="34B2E4"/>
            </a:solidFill>
            <a:ln>
              <a:noFill/>
            </a:ln>
            <a:effectLst>
              <a:outerShdw blurRad="127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 rot="2700000">
              <a:off x="-352442" y="333297"/>
              <a:ext cx="590584" cy="59058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CEB54F-A011-1579-2BC5-A12396D390A3}"/>
              </a:ext>
            </a:extLst>
          </p:cNvPr>
          <p:cNvSpPr txBox="1">
            <a:spLocks/>
          </p:cNvSpPr>
          <p:nvPr/>
        </p:nvSpPr>
        <p:spPr bwMode="auto">
          <a:xfrm>
            <a:off x="4861786" y="1812987"/>
            <a:ext cx="3976500" cy="6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43785" tIns="121892" rIns="243785" bIns="121892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E5176EC-A37B-DBD7-9E63-5FCA23416C62}"/>
              </a:ext>
            </a:extLst>
          </p:cNvPr>
          <p:cNvGrpSpPr/>
          <p:nvPr/>
        </p:nvGrpSpPr>
        <p:grpSpPr>
          <a:xfrm>
            <a:off x="2775082" y="1947956"/>
            <a:ext cx="8438249" cy="1523365"/>
            <a:chOff x="2993325" y="2728045"/>
            <a:chExt cx="8438249" cy="152336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B0702FB-AAE8-C421-C10A-5B0343932CC7}"/>
                </a:ext>
              </a:extLst>
            </p:cNvPr>
            <p:cNvGrpSpPr/>
            <p:nvPr/>
          </p:nvGrpSpPr>
          <p:grpSpPr>
            <a:xfrm>
              <a:off x="2993325" y="2728045"/>
              <a:ext cx="6133894" cy="1523365"/>
              <a:chOff x="4201749" y="2859476"/>
              <a:chExt cx="6133894" cy="1523365"/>
            </a:xfrm>
          </p:grpSpPr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1C592E4D-C63A-C5D4-0A01-445EAF94F78B}"/>
                  </a:ext>
                </a:extLst>
              </p:cNvPr>
              <p:cNvSpPr/>
              <p:nvPr/>
            </p:nvSpPr>
            <p:spPr bwMode="auto">
              <a:xfrm rot="19922454">
                <a:off x="4201749" y="2859476"/>
                <a:ext cx="1021715" cy="1523365"/>
              </a:xfrm>
              <a:custGeom>
                <a:avLst/>
                <a:gdLst>
                  <a:gd name="T0" fmla="*/ 2294 w 2814"/>
                  <a:gd name="T1" fmla="*/ 0 h 4189"/>
                  <a:gd name="T2" fmla="*/ 2290 w 2814"/>
                  <a:gd name="T3" fmla="*/ 4189 h 4189"/>
                  <a:gd name="T4" fmla="*/ 12 w 2814"/>
                  <a:gd name="T5" fmla="*/ 3244 h 4189"/>
                  <a:gd name="T6" fmla="*/ 0 w 2814"/>
                  <a:gd name="T7" fmla="*/ 948 h 4189"/>
                  <a:gd name="T8" fmla="*/ 2294 w 2814"/>
                  <a:gd name="T9" fmla="*/ 0 h 4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14" h="4189">
                    <a:moveTo>
                      <a:pt x="2294" y="0"/>
                    </a:moveTo>
                    <a:cubicBezTo>
                      <a:pt x="2814" y="1401"/>
                      <a:pt x="2778" y="2881"/>
                      <a:pt x="2290" y="4189"/>
                    </a:cubicBezTo>
                    <a:lnTo>
                      <a:pt x="12" y="3244"/>
                    </a:lnTo>
                    <a:cubicBezTo>
                      <a:pt x="253" y="2522"/>
                      <a:pt x="265" y="1717"/>
                      <a:pt x="0" y="948"/>
                    </a:cubicBezTo>
                    <a:lnTo>
                      <a:pt x="2294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27000" algn="ctr" rotWithShape="0">
                  <a:schemeClr val="tx2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421B764F-3D34-F099-3EE4-5031B4A0B7F1}"/>
                  </a:ext>
                </a:extLst>
              </p:cNvPr>
              <p:cNvCxnSpPr>
                <a:cxnSpLocks/>
                <a:endCxn id="15" idx="1"/>
              </p:cNvCxnSpPr>
              <p:nvPr/>
            </p:nvCxnSpPr>
            <p:spPr>
              <a:xfrm>
                <a:off x="5170824" y="3560431"/>
                <a:ext cx="1528509" cy="0"/>
              </a:xfrm>
              <a:prstGeom prst="line">
                <a:avLst/>
              </a:prstGeom>
              <a:ln w="6350">
                <a:solidFill>
                  <a:srgbClr val="3C5CE8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42">
                <a:extLst>
                  <a:ext uri="{FF2B5EF4-FFF2-40B4-BE49-F238E27FC236}">
                    <a16:creationId xmlns:a16="http://schemas.microsoft.com/office/drawing/2014/main" id="{9AD93B80-A773-C40F-2D04-07E4B480910B}"/>
                  </a:ext>
                </a:extLst>
              </p:cNvPr>
              <p:cNvSpPr txBox="1"/>
              <p:nvPr/>
            </p:nvSpPr>
            <p:spPr>
              <a:xfrm>
                <a:off x="4345485" y="3404572"/>
                <a:ext cx="708025" cy="368935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02</a:t>
                </a:r>
              </a:p>
            </p:txBody>
          </p:sp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B5558AE-697A-587D-06C0-8470EA29809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359143" y="3604859"/>
                <a:ext cx="3976500" cy="615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243785" tIns="121892" rIns="243785" bIns="121892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20000"/>
                  </a:spcBef>
                </a:pPr>
                <a:endPara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1B74253-604F-1420-56B6-64E97FEF3F98}"/>
                </a:ext>
              </a:extLst>
            </p:cNvPr>
            <p:cNvGrpSpPr/>
            <p:nvPr/>
          </p:nvGrpSpPr>
          <p:grpSpPr>
            <a:xfrm>
              <a:off x="3902203" y="2934388"/>
              <a:ext cx="7529371" cy="719321"/>
              <a:chOff x="3902203" y="2934388"/>
              <a:chExt cx="7529371" cy="719321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FA58A90-700B-E3E8-BFDF-3A8BF30A20BB}"/>
                  </a:ext>
                </a:extLst>
              </p:cNvPr>
              <p:cNvSpPr txBox="1"/>
              <p:nvPr/>
            </p:nvSpPr>
            <p:spPr>
              <a:xfrm>
                <a:off x="5490909" y="3204291"/>
                <a:ext cx="5940665" cy="449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zh-CN" altLang="en-US" sz="2000" dirty="0">
                    <a:solidFill>
                      <a:srgbClr val="020635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运用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区块链技术</a:t>
                </a:r>
                <a:r>
                  <a:rPr lang="zh-CN" altLang="en-US" sz="2000" dirty="0">
                    <a:solidFill>
                      <a:srgbClr val="020635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，实现数据的完整性、不可篡改性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78FEE7-8216-E54A-9E0B-5CD1647CB1D3}"/>
                  </a:ext>
                </a:extLst>
              </p:cNvPr>
              <p:cNvSpPr txBox="1"/>
              <p:nvPr/>
            </p:nvSpPr>
            <p:spPr>
              <a:xfrm>
                <a:off x="3902203" y="2934388"/>
                <a:ext cx="1866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2800" dirty="0"/>
                  <a:t>安全存储</a:t>
                </a:r>
                <a:endParaRPr lang="en-US" altLang="zh-CN" sz="2800" dirty="0"/>
              </a:p>
            </p:txBody>
          </p:sp>
        </p:grpSp>
      </p:grpSp>
      <p:sp>
        <p:nvSpPr>
          <p:cNvPr id="22" name="TextBox 42">
            <a:extLst>
              <a:ext uri="{FF2B5EF4-FFF2-40B4-BE49-F238E27FC236}">
                <a16:creationId xmlns:a16="http://schemas.microsoft.com/office/drawing/2014/main" id="{1556FB01-2FA2-DFF3-9DEA-3EEBCC73A04B}"/>
              </a:ext>
            </a:extLst>
          </p:cNvPr>
          <p:cNvSpPr txBox="1"/>
          <p:nvPr/>
        </p:nvSpPr>
        <p:spPr>
          <a:xfrm>
            <a:off x="2081703" y="5089653"/>
            <a:ext cx="708025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29E6D70-7AB5-BD49-CE5D-FE298846C4A2}"/>
              </a:ext>
            </a:extLst>
          </p:cNvPr>
          <p:cNvGrpSpPr/>
          <p:nvPr/>
        </p:nvGrpSpPr>
        <p:grpSpPr>
          <a:xfrm>
            <a:off x="462659" y="2396829"/>
            <a:ext cx="2452188" cy="2483836"/>
            <a:chOff x="1812846" y="2584715"/>
            <a:chExt cx="2311400" cy="2311400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DD8AD7C-0A8B-60C5-47ED-9B4DB6EDE5D4}"/>
                </a:ext>
              </a:extLst>
            </p:cNvPr>
            <p:cNvSpPr/>
            <p:nvPr/>
          </p:nvSpPr>
          <p:spPr>
            <a:xfrm>
              <a:off x="1812846" y="2584715"/>
              <a:ext cx="2311400" cy="23114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127000" algn="ctr" rotWithShape="0">
                <a:schemeClr val="tx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2060"/>
                </a:solidFill>
                <a:cs typeface="+mn-ea"/>
                <a:sym typeface="+mn-lt"/>
              </a:endParaRPr>
            </a:p>
          </p:txBody>
        </p:sp>
        <p:sp>
          <p:nvSpPr>
            <p:cNvPr id="32" name="Title 13">
              <a:extLst>
                <a:ext uri="{FF2B5EF4-FFF2-40B4-BE49-F238E27FC236}">
                  <a16:creationId xmlns:a16="http://schemas.microsoft.com/office/drawing/2014/main" id="{630E4627-0FFE-7C6A-B098-EF9F8EF949A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21595" y="3150197"/>
              <a:ext cx="2289177" cy="1077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43785" tIns="121892" rIns="243785" bIns="121892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/>
              <a:r>
                <a:rPr lang="zh-CN" altLang="en-US" sz="5400" b="1" dirty="0">
                  <a:solidFill>
                    <a:srgbClr val="002060"/>
                  </a:solidFill>
                  <a:latin typeface="+mn-lt"/>
                  <a:ea typeface="+mn-ea"/>
                  <a:cs typeface="+mn-ea"/>
                  <a:sym typeface="+mn-lt"/>
                </a:rPr>
                <a:t>创新</a:t>
              </a:r>
              <a:endParaRPr lang="en-US" altLang="zh-CN" sz="5400" b="1" dirty="0">
                <a:solidFill>
                  <a:srgbClr val="00206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9AC1414-1D8F-FE54-F834-CF9CC41EC0FB}"/>
              </a:ext>
            </a:extLst>
          </p:cNvPr>
          <p:cNvGrpSpPr/>
          <p:nvPr/>
        </p:nvGrpSpPr>
        <p:grpSpPr>
          <a:xfrm>
            <a:off x="2821121" y="3456003"/>
            <a:ext cx="9330609" cy="1419860"/>
            <a:chOff x="2306103" y="4242788"/>
            <a:chExt cx="9330609" cy="141986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3576FEB-C82E-1E3F-66B8-E85D2A15D811}"/>
                </a:ext>
              </a:extLst>
            </p:cNvPr>
            <p:cNvSpPr txBox="1"/>
            <p:nvPr/>
          </p:nvSpPr>
          <p:spPr>
            <a:xfrm>
              <a:off x="3674599" y="4581254"/>
              <a:ext cx="2110248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lang="zh-CN" altLang="en-US" sz="2800" dirty="0">
                  <a:solidFill>
                    <a:srgbClr val="020635"/>
                  </a:solidFill>
                  <a:latin typeface="+mn-ea"/>
                </a:rPr>
                <a:t>智能查重</a:t>
              </a: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652D1E5B-C4BE-5983-1160-239AFB3BFCAF}"/>
                </a:ext>
              </a:extLst>
            </p:cNvPr>
            <p:cNvGrpSpPr/>
            <p:nvPr/>
          </p:nvGrpSpPr>
          <p:grpSpPr>
            <a:xfrm>
              <a:off x="2306103" y="4242788"/>
              <a:ext cx="9330609" cy="1419860"/>
              <a:chOff x="2223553" y="4173442"/>
              <a:chExt cx="9330609" cy="141986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4E32410-0C8A-8A3B-A4A3-4DD533DCE672}"/>
                  </a:ext>
                </a:extLst>
              </p:cNvPr>
              <p:cNvSpPr txBox="1"/>
              <p:nvPr/>
            </p:nvSpPr>
            <p:spPr>
              <a:xfrm>
                <a:off x="5402336" y="4540018"/>
                <a:ext cx="6151826" cy="834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zh-CN" altLang="en-US" sz="2000" dirty="0">
                    <a:solidFill>
                      <a:srgbClr val="020635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运用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图像识别技术</a:t>
                </a:r>
                <a:r>
                  <a:rPr lang="zh-CN" altLang="en-US" sz="2000" dirty="0">
                    <a:solidFill>
                      <a:srgbClr val="020635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对作者上传的佐证图像文件进行查重，保护了作者的版权不被侵犯。</a:t>
                </a:r>
              </a:p>
            </p:txBody>
          </p:sp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A77991CC-6870-74C8-3AA0-EF148FB6EC35}"/>
                  </a:ext>
                </a:extLst>
              </p:cNvPr>
              <p:cNvSpPr/>
              <p:nvPr/>
            </p:nvSpPr>
            <p:spPr bwMode="auto">
              <a:xfrm rot="20032561">
                <a:off x="2223553" y="4173442"/>
                <a:ext cx="1413510" cy="1419860"/>
              </a:xfrm>
              <a:custGeom>
                <a:avLst/>
                <a:gdLst>
                  <a:gd name="T0" fmla="*/ 3898 w 3898"/>
                  <a:gd name="T1" fmla="*/ 944 h 3904"/>
                  <a:gd name="T2" fmla="*/ 934 w 3898"/>
                  <a:gd name="T3" fmla="*/ 3904 h 3904"/>
                  <a:gd name="T4" fmla="*/ 0 w 3898"/>
                  <a:gd name="T5" fmla="*/ 1642 h 3904"/>
                  <a:gd name="T6" fmla="*/ 1624 w 3898"/>
                  <a:gd name="T7" fmla="*/ 0 h 3904"/>
                  <a:gd name="T8" fmla="*/ 3898 w 3898"/>
                  <a:gd name="T9" fmla="*/ 944 h 3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98" h="3904">
                    <a:moveTo>
                      <a:pt x="3898" y="944"/>
                    </a:moveTo>
                    <a:cubicBezTo>
                      <a:pt x="3316" y="2213"/>
                      <a:pt x="2294" y="3284"/>
                      <a:pt x="934" y="3904"/>
                    </a:cubicBezTo>
                    <a:lnTo>
                      <a:pt x="0" y="1642"/>
                    </a:lnTo>
                    <a:cubicBezTo>
                      <a:pt x="734" y="1284"/>
                      <a:pt x="1292" y="696"/>
                      <a:pt x="1624" y="0"/>
                    </a:cubicBezTo>
                    <a:lnTo>
                      <a:pt x="3898" y="94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127000" algn="ctr" rotWithShape="0">
                  <a:schemeClr val="tx2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TextBox 43">
                <a:extLst>
                  <a:ext uri="{FF2B5EF4-FFF2-40B4-BE49-F238E27FC236}">
                    <a16:creationId xmlns:a16="http://schemas.microsoft.com/office/drawing/2014/main" id="{7AFE2FF3-879D-3E37-5915-2E8B5374005C}"/>
                  </a:ext>
                </a:extLst>
              </p:cNvPr>
              <p:cNvSpPr txBox="1"/>
              <p:nvPr/>
            </p:nvSpPr>
            <p:spPr>
              <a:xfrm>
                <a:off x="2526178" y="4675463"/>
                <a:ext cx="708025" cy="368935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3C5CE8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03</a:t>
                </a: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908FA77-D7EB-D24F-8305-FE535BA6FD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0650" y="4985907"/>
                <a:ext cx="2061686" cy="0"/>
              </a:xfrm>
              <a:prstGeom prst="line">
                <a:avLst/>
              </a:prstGeom>
              <a:ln w="6350">
                <a:solidFill>
                  <a:srgbClr val="3C5CE8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CA24BD3-E174-8EB9-CE4E-F2572A9152FC}"/>
              </a:ext>
            </a:extLst>
          </p:cNvPr>
          <p:cNvGrpSpPr/>
          <p:nvPr/>
        </p:nvGrpSpPr>
        <p:grpSpPr>
          <a:xfrm>
            <a:off x="1016938" y="949486"/>
            <a:ext cx="9741801" cy="1423670"/>
            <a:chOff x="2231251" y="1210676"/>
            <a:chExt cx="9741801" cy="1423670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B4CB653-2D18-6CBF-0BA3-AD8F3A5AA424}"/>
                </a:ext>
              </a:extLst>
            </p:cNvPr>
            <p:cNvSpPr/>
            <p:nvPr/>
          </p:nvSpPr>
          <p:spPr bwMode="auto">
            <a:xfrm rot="19004970">
              <a:off x="2231251" y="1210676"/>
              <a:ext cx="1415415" cy="1423670"/>
            </a:xfrm>
            <a:custGeom>
              <a:avLst/>
              <a:gdLst>
                <a:gd name="T0" fmla="*/ 946 w 3906"/>
                <a:gd name="T1" fmla="*/ 0 h 3912"/>
                <a:gd name="T2" fmla="*/ 3906 w 3906"/>
                <a:gd name="T3" fmla="*/ 2964 h 3912"/>
                <a:gd name="T4" fmla="*/ 1613 w 3906"/>
                <a:gd name="T5" fmla="*/ 3912 h 3912"/>
                <a:gd name="T6" fmla="*/ 0 w 3906"/>
                <a:gd name="T7" fmla="*/ 2278 h 3912"/>
                <a:gd name="T8" fmla="*/ 946 w 3906"/>
                <a:gd name="T9" fmla="*/ 0 h 3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6" h="3912">
                  <a:moveTo>
                    <a:pt x="946" y="0"/>
                  </a:moveTo>
                  <a:cubicBezTo>
                    <a:pt x="2215" y="582"/>
                    <a:pt x="3286" y="1605"/>
                    <a:pt x="3906" y="2964"/>
                  </a:cubicBezTo>
                  <a:lnTo>
                    <a:pt x="1613" y="3912"/>
                  </a:lnTo>
                  <a:cubicBezTo>
                    <a:pt x="1257" y="3181"/>
                    <a:pt x="681" y="2620"/>
                    <a:pt x="0" y="2278"/>
                  </a:cubicBezTo>
                  <a:lnTo>
                    <a:pt x="946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127000" algn="ctr" rotWithShape="0">
                <a:schemeClr val="tx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CE8BDB8-4047-5EB2-C73C-A809605BB1F7}"/>
                </a:ext>
              </a:extLst>
            </p:cNvPr>
            <p:cNvCxnSpPr>
              <a:cxnSpLocks/>
            </p:cNvCxnSpPr>
            <p:nvPr/>
          </p:nvCxnSpPr>
          <p:spPr>
            <a:xfrm>
              <a:off x="3650028" y="1999109"/>
              <a:ext cx="2689828" cy="18191"/>
            </a:xfrm>
            <a:prstGeom prst="line">
              <a:avLst/>
            </a:prstGeom>
            <a:ln w="6350">
              <a:solidFill>
                <a:srgbClr val="3C5CE8"/>
              </a:solidFill>
              <a:prstDash val="dash"/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41">
              <a:extLst>
                <a:ext uri="{FF2B5EF4-FFF2-40B4-BE49-F238E27FC236}">
                  <a16:creationId xmlns:a16="http://schemas.microsoft.com/office/drawing/2014/main" id="{226CBF6C-48B4-A664-3D27-D13149F16AA5}"/>
                </a:ext>
              </a:extLst>
            </p:cNvPr>
            <p:cNvSpPr txBox="1"/>
            <p:nvPr/>
          </p:nvSpPr>
          <p:spPr>
            <a:xfrm>
              <a:off x="2560521" y="1807156"/>
              <a:ext cx="708025" cy="3689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1F93AF7-CDE9-803A-BB15-181D3975708F}"/>
                </a:ext>
              </a:extLst>
            </p:cNvPr>
            <p:cNvSpPr txBox="1"/>
            <p:nvPr/>
          </p:nvSpPr>
          <p:spPr>
            <a:xfrm>
              <a:off x="4129160" y="1433842"/>
              <a:ext cx="1492613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just">
                <a:lnSpc>
                  <a:spcPts val="3000"/>
                </a:lnSpc>
                <a:defRPr sz="2800">
                  <a:solidFill>
                    <a:srgbClr val="020635"/>
                  </a:solidFill>
                  <a:latin typeface="+mn-ea"/>
                </a:defRPr>
              </a:lvl1pPr>
            </a:lstStyle>
            <a:p>
              <a:r>
                <a:rPr lang="zh-CN" altLang="en-US" dirty="0"/>
                <a:t>机密性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E5C9FEE-2024-C80A-FAE6-6152264A254A}"/>
                </a:ext>
              </a:extLst>
            </p:cNvPr>
            <p:cNvSpPr txBox="1"/>
            <p:nvPr/>
          </p:nvSpPr>
          <p:spPr>
            <a:xfrm>
              <a:off x="6339856" y="1745641"/>
              <a:ext cx="5633196" cy="4494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lang="zh-CN" altLang="en-US" sz="2000" dirty="0">
                  <a:solidFill>
                    <a:srgbClr val="020635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采用</a:t>
              </a:r>
              <a:r>
                <a:rPr lang="en-US" altLang="zh-CN" sz="2000" dirty="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AES</a:t>
              </a:r>
              <a:r>
                <a:rPr lang="zh-CN" altLang="en-US" sz="2000" dirty="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密码技术</a:t>
              </a:r>
              <a:r>
                <a:rPr lang="zh-CN" altLang="en-US" sz="2000" dirty="0">
                  <a:solidFill>
                    <a:srgbClr val="020635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对版权信息数据进行加密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6C7B2B-B992-08FB-0C32-53F7BDB8D2EA}"/>
              </a:ext>
            </a:extLst>
          </p:cNvPr>
          <p:cNvGrpSpPr/>
          <p:nvPr/>
        </p:nvGrpSpPr>
        <p:grpSpPr>
          <a:xfrm>
            <a:off x="1231676" y="4830908"/>
            <a:ext cx="10285410" cy="1419860"/>
            <a:chOff x="2307231" y="4324435"/>
            <a:chExt cx="10285410" cy="141986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99552B1-E63C-3C6D-E21F-AFEDFB93DB37}"/>
                </a:ext>
              </a:extLst>
            </p:cNvPr>
            <p:cNvSpPr txBox="1"/>
            <p:nvPr/>
          </p:nvSpPr>
          <p:spPr>
            <a:xfrm>
              <a:off x="4492700" y="4535440"/>
              <a:ext cx="2110248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lang="zh-CN" altLang="en-US" sz="2800" dirty="0">
                  <a:solidFill>
                    <a:srgbClr val="020635"/>
                  </a:solidFill>
                  <a:latin typeface="+mn-ea"/>
                </a:rPr>
                <a:t>文化宣传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0538498-8011-D655-D6AD-987AC12399C1}"/>
                </a:ext>
              </a:extLst>
            </p:cNvPr>
            <p:cNvGrpSpPr/>
            <p:nvPr/>
          </p:nvGrpSpPr>
          <p:grpSpPr>
            <a:xfrm>
              <a:off x="2307231" y="4324435"/>
              <a:ext cx="10285410" cy="1419860"/>
              <a:chOff x="2224681" y="4255089"/>
              <a:chExt cx="10285410" cy="1419860"/>
            </a:xfrm>
          </p:grpSpPr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1C5375B-0006-9B15-1802-3BD4E4CEFADD}"/>
                  </a:ext>
                </a:extLst>
              </p:cNvPr>
              <p:cNvSpPr txBox="1"/>
              <p:nvPr/>
            </p:nvSpPr>
            <p:spPr>
              <a:xfrm>
                <a:off x="6358265" y="4731409"/>
                <a:ext cx="6151826" cy="449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zh-CN" altLang="en-US" sz="2000" dirty="0">
                    <a:solidFill>
                      <a:srgbClr val="020635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采用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互联网网页</a:t>
                </a:r>
                <a:r>
                  <a:rPr lang="zh-CN" altLang="en-US" sz="2000" dirty="0">
                    <a:solidFill>
                      <a:srgbClr val="020635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的形式对铜文化进行了一定的宣传</a:t>
                </a:r>
              </a:p>
            </p:txBody>
          </p:sp>
          <p:sp>
            <p:nvSpPr>
              <p:cNvPr id="21" name="Freeform 5">
                <a:extLst>
                  <a:ext uri="{FF2B5EF4-FFF2-40B4-BE49-F238E27FC236}">
                    <a16:creationId xmlns:a16="http://schemas.microsoft.com/office/drawing/2014/main" id="{969D6A46-9E61-ABBA-ED11-2DD59E416623}"/>
                  </a:ext>
                </a:extLst>
              </p:cNvPr>
              <p:cNvSpPr/>
              <p:nvPr/>
            </p:nvSpPr>
            <p:spPr bwMode="auto">
              <a:xfrm rot="2631535">
                <a:off x="2224681" y="4255089"/>
                <a:ext cx="1413510" cy="1419860"/>
              </a:xfrm>
              <a:custGeom>
                <a:avLst/>
                <a:gdLst>
                  <a:gd name="T0" fmla="*/ 3898 w 3898"/>
                  <a:gd name="T1" fmla="*/ 944 h 3904"/>
                  <a:gd name="T2" fmla="*/ 934 w 3898"/>
                  <a:gd name="T3" fmla="*/ 3904 h 3904"/>
                  <a:gd name="T4" fmla="*/ 0 w 3898"/>
                  <a:gd name="T5" fmla="*/ 1642 h 3904"/>
                  <a:gd name="T6" fmla="*/ 1624 w 3898"/>
                  <a:gd name="T7" fmla="*/ 0 h 3904"/>
                  <a:gd name="T8" fmla="*/ 3898 w 3898"/>
                  <a:gd name="T9" fmla="*/ 944 h 3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98" h="3904">
                    <a:moveTo>
                      <a:pt x="3898" y="944"/>
                    </a:moveTo>
                    <a:cubicBezTo>
                      <a:pt x="3316" y="2213"/>
                      <a:pt x="2294" y="3284"/>
                      <a:pt x="934" y="3904"/>
                    </a:cubicBezTo>
                    <a:lnTo>
                      <a:pt x="0" y="1642"/>
                    </a:lnTo>
                    <a:cubicBezTo>
                      <a:pt x="734" y="1284"/>
                      <a:pt x="1292" y="696"/>
                      <a:pt x="1624" y="0"/>
                    </a:cubicBezTo>
                    <a:lnTo>
                      <a:pt x="3898" y="9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127000" algn="ctr" rotWithShape="0">
                  <a:schemeClr val="tx2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TextBox 43">
                <a:extLst>
                  <a:ext uri="{FF2B5EF4-FFF2-40B4-BE49-F238E27FC236}">
                    <a16:creationId xmlns:a16="http://schemas.microsoft.com/office/drawing/2014/main" id="{A56F8077-1D19-720D-A967-78A5AE33A2B6}"/>
                  </a:ext>
                </a:extLst>
              </p:cNvPr>
              <p:cNvSpPr txBox="1"/>
              <p:nvPr/>
            </p:nvSpPr>
            <p:spPr>
              <a:xfrm>
                <a:off x="2526178" y="4675463"/>
                <a:ext cx="708025" cy="368935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3C5CE8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04</a:t>
                </a:r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87FA5F3-203E-D62A-3652-84205982639A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 flipV="1">
                <a:off x="3504182" y="4956118"/>
                <a:ext cx="2854083" cy="29789"/>
              </a:xfrm>
              <a:prstGeom prst="line">
                <a:avLst/>
              </a:prstGeom>
              <a:ln w="6350">
                <a:solidFill>
                  <a:srgbClr val="3C5CE8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1929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/>
          <p:cNvSpPr/>
          <p:nvPr/>
        </p:nvSpPr>
        <p:spPr>
          <a:xfrm rot="2700000">
            <a:off x="3652497" y="566169"/>
            <a:ext cx="1068341" cy="1068341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圆角矩形 1"/>
          <p:cNvSpPr/>
          <p:nvPr/>
        </p:nvSpPr>
        <p:spPr>
          <a:xfrm rot="2700000">
            <a:off x="8347309" y="1926870"/>
            <a:ext cx="1068341" cy="1068341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 rot="2700000">
            <a:off x="9906784" y="268239"/>
            <a:ext cx="753462" cy="753462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18084" y="-782264"/>
            <a:ext cx="1494170" cy="1494170"/>
            <a:chOff x="3700441" y="1274408"/>
            <a:chExt cx="1646508" cy="1646508"/>
          </a:xfrm>
        </p:grpSpPr>
        <p:sp>
          <p:nvSpPr>
            <p:cNvPr id="6" name="圆角矩形 5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54646" y="1522906"/>
            <a:ext cx="1494170" cy="1494170"/>
            <a:chOff x="3700441" y="1274408"/>
            <a:chExt cx="1646508" cy="1646508"/>
          </a:xfrm>
        </p:grpSpPr>
        <p:sp>
          <p:nvSpPr>
            <p:cNvPr id="12" name="圆角矩形 11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697594" y="-1481460"/>
            <a:ext cx="2300444" cy="2300444"/>
            <a:chOff x="3700441" y="1274408"/>
            <a:chExt cx="1646508" cy="1646508"/>
          </a:xfrm>
        </p:grpSpPr>
        <p:sp>
          <p:nvSpPr>
            <p:cNvPr id="15" name="圆角矩形 14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23079" y="99012"/>
            <a:ext cx="1770084" cy="1770084"/>
            <a:chOff x="3700441" y="1274408"/>
            <a:chExt cx="1646508" cy="1646508"/>
          </a:xfrm>
        </p:grpSpPr>
        <p:sp>
          <p:nvSpPr>
            <p:cNvPr id="18" name="圆角矩形 17"/>
            <p:cNvSpPr/>
            <p:nvPr/>
          </p:nvSpPr>
          <p:spPr>
            <a:xfrm rot="2700000">
              <a:off x="3700441" y="1274408"/>
              <a:ext cx="1646508" cy="1646508"/>
            </a:xfrm>
            <a:prstGeom prst="roundRect">
              <a:avLst>
                <a:gd name="adj" fmla="val 6887"/>
              </a:avLst>
            </a:prstGeom>
            <a:solidFill>
              <a:schemeClr val="accent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 rot="2700000">
              <a:off x="3794878" y="1368844"/>
              <a:ext cx="1457637" cy="1457637"/>
            </a:xfrm>
            <a:prstGeom prst="roundRect">
              <a:avLst>
                <a:gd name="adj" fmla="val 6887"/>
              </a:avLst>
            </a:prstGeom>
            <a:solidFill>
              <a:schemeClr val="bg1"/>
            </a:solidFill>
            <a:ln w="12700">
              <a:noFill/>
            </a:ln>
            <a:effectLst>
              <a:innerShdw blurRad="190500" dist="508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26" name="圆角矩形 25"/>
          <p:cNvSpPr/>
          <p:nvPr/>
        </p:nvSpPr>
        <p:spPr>
          <a:xfrm rot="2700000">
            <a:off x="6802566" y="1593293"/>
            <a:ext cx="1068341" cy="1068341"/>
          </a:xfrm>
          <a:prstGeom prst="roundRect">
            <a:avLst>
              <a:gd name="adj" fmla="val 6887"/>
            </a:avLst>
          </a:prstGeom>
          <a:solidFill>
            <a:schemeClr val="bg1"/>
          </a:solidFill>
          <a:ln w="12700">
            <a:noFill/>
          </a:ln>
          <a:effectLst>
            <a:innerShdw blurRad="190500" dist="50800" dir="13500000">
              <a:prstClr val="black">
                <a:alpha val="2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 rot="2700000">
            <a:off x="7647191" y="1642586"/>
            <a:ext cx="1149463" cy="1149463"/>
          </a:xfrm>
          <a:custGeom>
            <a:avLst/>
            <a:gdLst>
              <a:gd name="connsiteX0" fmla="*/ 95270 w 1266657"/>
              <a:gd name="connsiteY0" fmla="*/ 95268 h 1266657"/>
              <a:gd name="connsiteX1" fmla="*/ 72650 w 1266657"/>
              <a:gd name="connsiteY1" fmla="*/ 149877 h 1266657"/>
              <a:gd name="connsiteX2" fmla="*/ 72650 w 1266657"/>
              <a:gd name="connsiteY2" fmla="*/ 1116780 h 1266657"/>
              <a:gd name="connsiteX3" fmla="*/ 149878 w 1266657"/>
              <a:gd name="connsiteY3" fmla="*/ 1194008 h 1266657"/>
              <a:gd name="connsiteX4" fmla="*/ 1116781 w 1266657"/>
              <a:gd name="connsiteY4" fmla="*/ 1194008 h 1266657"/>
              <a:gd name="connsiteX5" fmla="*/ 1194009 w 1266657"/>
              <a:gd name="connsiteY5" fmla="*/ 1116780 h 1266657"/>
              <a:gd name="connsiteX6" fmla="*/ 1194010 w 1266657"/>
              <a:gd name="connsiteY6" fmla="*/ 149877 h 1266657"/>
              <a:gd name="connsiteX7" fmla="*/ 1116782 w 1266657"/>
              <a:gd name="connsiteY7" fmla="*/ 72649 h 1266657"/>
              <a:gd name="connsiteX8" fmla="*/ 149879 w 1266657"/>
              <a:gd name="connsiteY8" fmla="*/ 72649 h 1266657"/>
              <a:gd name="connsiteX9" fmla="*/ 95270 w 1266657"/>
              <a:gd name="connsiteY9" fmla="*/ 95268 h 1266657"/>
              <a:gd name="connsiteX10" fmla="*/ 25551 w 1266657"/>
              <a:gd name="connsiteY10" fmla="*/ 25550 h 1266657"/>
              <a:gd name="connsiteX11" fmla="*/ 87235 w 1266657"/>
              <a:gd name="connsiteY11" fmla="*/ 0 h 1266657"/>
              <a:gd name="connsiteX12" fmla="*/ 1179422 w 1266657"/>
              <a:gd name="connsiteY12" fmla="*/ 0 h 1266657"/>
              <a:gd name="connsiteX13" fmla="*/ 1266657 w 1266657"/>
              <a:gd name="connsiteY13" fmla="*/ 87235 h 1266657"/>
              <a:gd name="connsiteX14" fmla="*/ 1266657 w 1266657"/>
              <a:gd name="connsiteY14" fmla="*/ 1179422 h 1266657"/>
              <a:gd name="connsiteX15" fmla="*/ 1179422 w 1266657"/>
              <a:gd name="connsiteY15" fmla="*/ 1266657 h 1266657"/>
              <a:gd name="connsiteX16" fmla="*/ 87235 w 1266657"/>
              <a:gd name="connsiteY16" fmla="*/ 1266657 h 1266657"/>
              <a:gd name="connsiteX17" fmla="*/ 0 w 1266657"/>
              <a:gd name="connsiteY17" fmla="*/ 1179422 h 1266657"/>
              <a:gd name="connsiteX18" fmla="*/ 0 w 1266657"/>
              <a:gd name="connsiteY18" fmla="*/ 87235 h 1266657"/>
              <a:gd name="connsiteX19" fmla="*/ 25551 w 1266657"/>
              <a:gd name="connsiteY19" fmla="*/ 25550 h 126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66657" h="1266657">
                <a:moveTo>
                  <a:pt x="95270" y="95268"/>
                </a:moveTo>
                <a:cubicBezTo>
                  <a:pt x="81294" y="109244"/>
                  <a:pt x="72651" y="128551"/>
                  <a:pt x="72650" y="149877"/>
                </a:cubicBezTo>
                <a:lnTo>
                  <a:pt x="72650" y="1116780"/>
                </a:lnTo>
                <a:cubicBezTo>
                  <a:pt x="72650" y="1159432"/>
                  <a:pt x="107227" y="1194008"/>
                  <a:pt x="149878" y="1194008"/>
                </a:cubicBezTo>
                <a:lnTo>
                  <a:pt x="1116781" y="1194008"/>
                </a:lnTo>
                <a:cubicBezTo>
                  <a:pt x="1159434" y="1194008"/>
                  <a:pt x="1194009" y="1159432"/>
                  <a:pt x="1194009" y="1116780"/>
                </a:cubicBezTo>
                <a:lnTo>
                  <a:pt x="1194010" y="149877"/>
                </a:lnTo>
                <a:cubicBezTo>
                  <a:pt x="1194009" y="107225"/>
                  <a:pt x="1159433" y="72649"/>
                  <a:pt x="1116782" y="72649"/>
                </a:cubicBezTo>
                <a:lnTo>
                  <a:pt x="149879" y="72649"/>
                </a:lnTo>
                <a:cubicBezTo>
                  <a:pt x="128552" y="72649"/>
                  <a:pt x="109246" y="81293"/>
                  <a:pt x="95270" y="95268"/>
                </a:cubicBezTo>
                <a:close/>
                <a:moveTo>
                  <a:pt x="25551" y="25550"/>
                </a:moveTo>
                <a:cubicBezTo>
                  <a:pt x="41337" y="9764"/>
                  <a:pt x="63146" y="0"/>
                  <a:pt x="87235" y="0"/>
                </a:cubicBezTo>
                <a:lnTo>
                  <a:pt x="1179422" y="0"/>
                </a:lnTo>
                <a:cubicBezTo>
                  <a:pt x="1227601" y="0"/>
                  <a:pt x="1266657" y="39057"/>
                  <a:pt x="1266657" y="87235"/>
                </a:cubicBezTo>
                <a:lnTo>
                  <a:pt x="1266657" y="1179422"/>
                </a:lnTo>
                <a:cubicBezTo>
                  <a:pt x="1266657" y="1227601"/>
                  <a:pt x="1227601" y="1266657"/>
                  <a:pt x="1179422" y="1266657"/>
                </a:cubicBezTo>
                <a:lnTo>
                  <a:pt x="87235" y="1266657"/>
                </a:lnTo>
                <a:cubicBezTo>
                  <a:pt x="39057" y="1266657"/>
                  <a:pt x="0" y="1227601"/>
                  <a:pt x="0" y="1179422"/>
                </a:cubicBezTo>
                <a:lnTo>
                  <a:pt x="0" y="87235"/>
                </a:lnTo>
                <a:cubicBezTo>
                  <a:pt x="0" y="63146"/>
                  <a:pt x="9764" y="41337"/>
                  <a:pt x="25551" y="2555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905006" y="3579812"/>
            <a:ext cx="8381994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en-US"/>
            </a:defPPr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dist"/>
            <a:r>
              <a:rPr lang="zh-CN" altLang="en-US" sz="7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+mn-lt"/>
              </a:rPr>
              <a:t>谢谢大家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4859351" y="4852286"/>
            <a:ext cx="2473299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5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TuWHP#"/>
  <p:tag name="MH_LAYOUT" val="SubTitleText"/>
  <p:tag name="MH" val="20170726164042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TuWHP#"/>
  <p:tag name="MH_LAYOUT" val="SubTitleText"/>
  <p:tag name="MH" val="20170726164042"/>
  <p:tag name="MH_LIBRARY" val="GRAPH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TuWHP#"/>
  <p:tag name="MH_LAYOUT" val="SubTitleText"/>
  <p:tag name="MH" val="20170726164042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99302"/>
      </a:accent1>
      <a:accent2>
        <a:srgbClr val="E14956"/>
      </a:accent2>
      <a:accent3>
        <a:srgbClr val="A6315B"/>
      </a:accent3>
      <a:accent4>
        <a:srgbClr val="2070A1"/>
      </a:accent4>
      <a:accent5>
        <a:srgbClr val="34B2E4"/>
      </a:accent5>
      <a:accent6>
        <a:srgbClr val="2CC6D2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652</TotalTime>
  <Words>261</Words>
  <Application>Microsoft Office PowerPoint</Application>
  <PresentationFormat>宽屏</PresentationFormat>
  <Paragraphs>83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方正粗黑宋简体</vt:lpstr>
      <vt:lpstr>黑体</vt:lpstr>
      <vt:lpstr>微软雅黑</vt:lpstr>
      <vt:lpstr>字魂36号-正文宋楷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彩色方框</dc:title>
  <dc:creator>第一PPT</dc:creator>
  <cp:keywords>www.1ppt.com</cp:keywords>
  <dc:description>www.1ppt.com</dc:description>
  <cp:lastModifiedBy>樊 春意</cp:lastModifiedBy>
  <cp:revision>144</cp:revision>
  <dcterms:created xsi:type="dcterms:W3CDTF">2017-08-18T03:02:00Z</dcterms:created>
  <dcterms:modified xsi:type="dcterms:W3CDTF">2022-11-23T04:03:14Z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